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05840"/>
            <a:ext cx="32004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AI-POWERED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Fraud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Suspicious Medicare Billing Patterns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OIG LEIE Cross-Reference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CMS Medicare Data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443484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OIG LEIE Exclusions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77640" y="443484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Isolation Forest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15000" y="443484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52360" y="4434840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Z-Score Analysis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An AI-powered system that analyzes Medicare billing data to detect suspicious providers engaging in fraud, waste, or abuse.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Built using real CMS (Centers for Medicare &amp; Medicaid Services) data combined with the OIG LEIE exclusion list — a federal database of healthcare providers barred from Medicare.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system combines rule-based analysis, peer-group benchmarking, and machine learning to assign a Fraud Risk Score to every provider.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15000" y="960120"/>
            <a:ext cx="310896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960120"/>
            <a:ext cx="6400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Providers Analyzed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</a:rPr>
              <a:t>44,500+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310896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828800"/>
            <a:ext cx="64008" cy="731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Peer Groups Created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</a:rPr>
              <a:t>1,200+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0" y="2697480"/>
            <a:ext cx="310896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2697480"/>
            <a:ext cx="64008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Risk Flagged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3,842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715000" y="3566160"/>
            <a:ext cx="3108960" cy="731520"/>
          </a:xfrm>
          <a:prstGeom prst="rect">
            <a:avLst/>
          </a:prstGeom>
          <a:solidFill>
            <a:srgbClr val="F0F8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3566160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ML Models Deployed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3886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⚠  Important: This system identifies suspicious providers for investigation — it does not prove fraud.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926080" cy="1463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</a:rPr>
              <a:t>$60–100B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lost annually to Medicare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fraud, waste &amp; abuse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960120"/>
            <a:ext cx="292608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Manual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is slow, inconsistent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&amp; misses patterns at scale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960120"/>
            <a:ext cx="219456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Need: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463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Automated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Scalable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Detection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651760" cy="21488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Massive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Millions of Medicare billing records — impossible to review manually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2606040"/>
            <a:ext cx="2651760" cy="21488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83280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Hidden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Fraudulent providers disguise claims within normal-looking billing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606040"/>
            <a:ext cx="2651760" cy="21488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Exclusion Gaps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Excluded providers still active in CMS data undetected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C7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Detect Billing Outliers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Identify providers whose billing patterns deviate significantly from peers in same specialty &amp; state using Z-score analysis.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960120"/>
            <a:ext cx="274320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960120"/>
            <a:ext cx="27432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C7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55848" y="1527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Apply Anomaly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Isolation Forest ML model to flag statistically unusual providers based on payment, service volume &amp; HCPCS diversity.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960120"/>
            <a:ext cx="274320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960120"/>
            <a:ext cx="27432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C7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0216" y="15270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Catch Upcoding Fraud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0216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Detect providers over-billing high-value E&amp;M codes (99211–99215) compared to their peer group average.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274320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63240"/>
            <a:ext cx="27432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C7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630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Flag Duplicate Claims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Train a Random Forest classifier to identify providers with duplicate-like billing patterns.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4408" y="3063240"/>
            <a:ext cx="274320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063240"/>
            <a:ext cx="274320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C7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55848" y="3630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</a:rPr>
              <a:t>Cross-Reference LEIE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55848" y="4023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Match providers against OIG's federal exclusion list — flagging any still-active excluded provider found in CMS data.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1508760"/>
          </a:xfrm>
          <a:prstGeom prst="rect">
            <a:avLst/>
          </a:prstGeom>
          <a:solidFill>
            <a:srgbClr val="EBF5FB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3931920" cy="548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📂  CMS Medicare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MUP_PHY Physician &amp; Practitioner Services file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Columns: NPI, Provider Type, State, HCPCS codes, payments, services, beneficiaries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Large file loaded in chunks (100K rows/chunk)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06240" cy="15087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60120"/>
            <a:ext cx="420624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</a:rPr>
              <a:t>🚫  OIG LEIE Exclusion List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14813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Federal list of providers excluded from Medicare participation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Columns: NPI, name, exclusion type, exclusion date, reinstatement date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Downloaded directly from OIG website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6517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Analysis Pipeline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1371600" cy="12344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0632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Ingest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3680460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9928" y="3063240"/>
            <a:ext cx="1371600" cy="1234440"/>
          </a:xfrm>
          <a:prstGeom prst="rect">
            <a:avLst/>
          </a:prstGeom>
          <a:solidFill>
            <a:srgbClr val="0076A3"/>
          </a:solidFill>
          <a:ln w="12700">
            <a:solidFill>
              <a:srgbClr val="007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30632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81528" y="3680460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256" y="3063240"/>
            <a:ext cx="1371600" cy="1234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30632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Peer Group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Benchmark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62856" y="3680460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3063240"/>
            <a:ext cx="137160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30632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44184" y="3680460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53912" y="3063240"/>
            <a:ext cx="137160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30632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25512" y="3680460"/>
            <a:ext cx="109728" cy="0"/>
          </a:xfrm>
          <a:prstGeom prst="line">
            <a:avLst/>
          </a:prstGeom>
          <a:noFill/>
          <a:ln w="25400">
            <a:solidFill>
              <a:srgbClr val="0D21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3063240"/>
            <a:ext cx="1371600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0632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Deliverables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Detection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6634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Z-Score Outlier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Flag providers with any metric &gt; 3 std devs above peer mean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6634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54864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Isolation Forest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122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Unsupervised anomaly detection (contamination=5%, 200 trees)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6634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60320"/>
            <a:ext cx="54864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E&amp;M Upcoding Detector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89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Flag providers over-billing HCPCS 99211–99215 codes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46634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37560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741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Random Forest Classifier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667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Detect duplicate-like claim patterns (supervised)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114800"/>
            <a:ext cx="46634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14800"/>
            <a:ext cx="54864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513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LEIE NPI Cross-Reference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439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Match active excluded providers from OIG federal list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20640" y="914400"/>
            <a:ext cx="3703320" cy="32004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960120"/>
            <a:ext cx="3611880" cy="2971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120640" y="39319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Project Output: Risk Distribution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14884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148840" cy="45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6C7"/>
                </a:solidFill>
              </a:rPr>
              <a:t>44,528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Providers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Analyzed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1005840"/>
            <a:ext cx="214884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005840"/>
            <a:ext cx="214884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3,842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Providers Flagged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214884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03120"/>
            <a:ext cx="21488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1,247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Critical Priority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Providers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214884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2103120"/>
            <a:ext cx="214884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</a:rPr>
              <a:t>2,914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Upcoding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Flags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214884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00400"/>
            <a:ext cx="2148840" cy="457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3FA0"/>
                </a:solidFill>
              </a:rPr>
              <a:t>1,200+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3749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Peer Groups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Created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3200400"/>
            <a:ext cx="2148840" cy="960120"/>
          </a:xfrm>
          <a:prstGeom prst="rect">
            <a:avLst/>
          </a:prstGeom>
          <a:solidFill>
            <a:srgbClr val="F0F8FF"/>
          </a:solidFill>
          <a:ln w="12700">
            <a:solidFill>
              <a:srgbClr val="2D8C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3200400"/>
            <a:ext cx="2148840" cy="45720"/>
          </a:xfrm>
          <a:prstGeom prst="rect">
            <a:avLst/>
          </a:prstGeom>
          <a:solidFill>
            <a:srgbClr val="2D8C5E"/>
          </a:solidFill>
          <a:ln w="12700">
            <a:solidFill>
              <a:srgbClr val="2D8C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8C5E"/>
                </a:solidFill>
              </a:rPr>
              <a:t>96%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43200" y="3749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Classifier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Accuracy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2519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</a:rPr>
              <a:t>Key Output Files: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" y="4526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outlier_flags.csv  |  upcoding_scores.csv  |  critical_priority_providers.csv  |  duplicate_classifier_report.csv  |  leie_matches.csv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0" y="914400"/>
            <a:ext cx="3703320" cy="34290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960120"/>
            <a:ext cx="3520440" cy="32004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120640" y="4343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Duplicate Classifier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303520" cy="21488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What the System Achieves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✔  Automated detection of billing outliers across 44,000+ providers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✔  Peer-group benchmarking by specialty &amp; state (1,200+ groups)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✔  ML models (Isolation Forest + Random Forest) for anomaly &amp; duplicate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✔  E&amp;M upcoding detection for over-billed consultation codes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✔  LEIE cross-reference to catch excluded providers still billing Medicare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143000"/>
            <a:ext cx="2834640" cy="2148840"/>
          </a:xfrm>
          <a:prstGeom prst="rect">
            <a:avLst/>
          </a:prstGeom>
          <a:solidFill>
            <a:srgbClr val="112233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C4B6"/>
                </a:solidFill>
              </a:rPr>
              <a:t>Fraud Risk Score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645920"/>
            <a:ext cx="26974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🔴 High Risk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0" y="1664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Score ≥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148840"/>
            <a:ext cx="26974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67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🟠 Medium Risk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167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Score 1–2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651760"/>
            <a:ext cx="26974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6700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🟢 Low Risk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Score = 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74720"/>
            <a:ext cx="813816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91363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This project provides a scalable, data-driven solution for healthcare fraud detection — replacing slow manual audits with an automated investigation pipeline that prioritizes the highest-risk providers for review.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Fraud Detection System</dc:title>
  <dc:subject>PptxGenJS Presentation</dc:subject>
  <dc:creator>Shahneela Zafar</dc:creator>
  <cp:lastModifiedBy>Shahneela Zafar</cp:lastModifiedBy>
  <cp:revision>1</cp:revision>
  <dcterms:created xsi:type="dcterms:W3CDTF">2026-06-08T08:52:20Z</dcterms:created>
  <dcterms:modified xsi:type="dcterms:W3CDTF">2026-06-08T08:52:20Z</dcterms:modified>
</cp:coreProperties>
</file>